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765" autoAdjust="0"/>
  </p:normalViewPr>
  <p:slideViewPr>
    <p:cSldViewPr snapToGrid="0">
      <p:cViewPr varScale="1">
        <p:scale>
          <a:sx n="75" d="100"/>
          <a:sy n="75" d="100"/>
        </p:scale>
        <p:origin x="9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6410-BF8A-6ABE-BD1E-4203EB635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5ACCE-AACA-6762-D54F-26B7A0693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0B65A-B035-4E09-9DFE-8F550A43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A8F7C-06B9-228F-E4C1-40DBB1EA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4976E-823B-9D26-650E-9BF0B367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750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5876-7D2F-C29F-C9F0-9A4359D14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1E863-BACE-C533-3E75-6AD889D81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898C2-1709-3AE2-0E8C-220F1896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1E7C4-5639-1867-A164-E280B27C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75FCB-A63F-1F9B-D743-A5062D3E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722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4041-1406-DA43-FF47-ABE5D19C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81B2C-7919-A04E-30C5-01AC6729C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5DFCF-79DB-1EAB-936B-550B808A5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6937A-EE08-0544-9393-ABE5FA9C4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9EEB3-BC3D-58A0-64E8-96D61EBF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607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A3E0-FCFB-B56B-8872-8E78FC5A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A328-17E1-75E1-03BF-FC4F48A82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8D751-A089-3A05-2863-1B93E2EB4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5ACB4-8123-50EB-9B78-00CA60C8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136BD-FCD8-4B91-140A-DC0BE4D2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470AF-2BA1-811A-36AF-30FBF553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080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B771-E563-69E7-6728-83F51F844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99FBF-DD8A-6AEA-57C1-37BF8FAA3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31038-F024-E4BA-B608-E81427B7B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A8BC1-8264-A53E-C71C-391FD194C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1193B5-92A8-0A19-71F1-A1F4DBF55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945C5-CD47-DAAF-D39C-2119391C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12EF1-80CE-A12E-D740-084D2873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DA980D-48D7-F11F-2755-366689C4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32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C03CB-8A56-C185-2293-9A5986CB9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06529-FE0E-8E27-F8FB-6CE6171B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E4612-8B47-F35D-4443-F18BDD91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E8346-ACBC-1D0F-9CE1-9015F71F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02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6AB6C-3008-4377-4CBA-0C15881B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3415BF-84A7-F9A2-9E9C-A86232A13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B1FDB-B33F-BB46-D5E4-66E2E8E2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226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912D3-A7EE-7F85-1DAA-741DEA7E5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30E8C-52C6-008E-7ED5-E0FB94E46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E22EE-ABF6-7CA2-547C-1B8EB0F00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DCC3B-DAC7-3CB0-8CC6-1CEEA078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A628B-D4B0-610B-305B-B06562CC9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D2C3A-6C0D-296B-5F39-C9F74D4E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50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A807-7AAA-5722-5241-EA949A18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E4A22-0222-7C3F-E4CE-59807EC05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E49DD-C1F3-CE59-1666-66A7FD206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F6C5A-6EEB-324A-CAD1-0A03F1B8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D9220-52E3-ABA0-84CA-831CDFBD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EC838-E4D4-1F4A-C55E-9B3F48CC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78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94B40-3193-EBE4-BAC2-F90FB7F8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FCF7A-C941-74A5-6DE0-54E7FBFC3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291E1-C0D7-C264-6F61-C528CDB0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FEE98-D3F7-4D62-054C-6BF90676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CA577-995F-4397-D298-EE4137F7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04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91732-6D82-7718-9F3F-41409F746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9C90B-0644-7E24-23F7-72F850AB2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B423-E185-5E7F-A5F9-94A2285F0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A82AE-30DD-E8A4-EDC0-F77165FD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1E494-436D-0BEE-A337-54AB3D578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625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35ACCE-2D6F-BB21-ECD0-DA25B75D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53A46-1FE3-314A-07C7-03D77A46B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9D74E-F72F-4879-66A9-515EF83D8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0E624-8C0B-4E94-B2ED-E5B858069DC0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B3DB0-4A36-7D59-0707-35ACF777C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1B961-CB7F-B3AB-5546-25A769182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76076-2FF1-4CDB-ABD9-1E87EFE37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10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4B46-3FF4-5B9C-B26B-BFD688D71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196" y="1727687"/>
            <a:ext cx="11675608" cy="2087229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Sales Analytics Using OLAP and KNIME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F3D3-ECD2-C7CD-B2FE-CFA7EF0D4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301667"/>
            <a:ext cx="12192000" cy="1655762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CSA1603-DATA WAREHOUSING AND DATA MINING</a:t>
            </a: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5F275BE2-1045-D848-6656-5CFD4BFF8ABA}"/>
              </a:ext>
            </a:extLst>
          </p:cNvPr>
          <p:cNvGrpSpPr/>
          <p:nvPr/>
        </p:nvGrpSpPr>
        <p:grpSpPr>
          <a:xfrm>
            <a:off x="450511" y="170816"/>
            <a:ext cx="11480759" cy="1477191"/>
            <a:chOff x="0" y="0"/>
            <a:chExt cx="22961518" cy="2954382"/>
          </a:xfrm>
        </p:grpSpPr>
        <p:sp>
          <p:nvSpPr>
            <p:cNvPr id="5" name="Freeform 7" descr="SIMATS ENGINEERING —BIOTECHNOLOGY">
              <a:extLst>
                <a:ext uri="{FF2B5EF4-FFF2-40B4-BE49-F238E27FC236}">
                  <a16:creationId xmlns:a16="http://schemas.microsoft.com/office/drawing/2014/main" id="{9B9AEDEA-C301-ED66-EE11-FC5BA0A23F6F}"/>
                </a:ext>
              </a:extLst>
            </p:cNvPr>
            <p:cNvSpPr/>
            <p:nvPr/>
          </p:nvSpPr>
          <p:spPr>
            <a:xfrm>
              <a:off x="0" y="0"/>
              <a:ext cx="22961473" cy="2954401"/>
            </a:xfrm>
            <a:custGeom>
              <a:avLst/>
              <a:gdLst/>
              <a:ahLst/>
              <a:cxnLst/>
              <a:rect l="l" t="t" r="r" b="b"/>
              <a:pathLst>
                <a:path w="22961473" h="2954401">
                  <a:moveTo>
                    <a:pt x="0" y="0"/>
                  </a:moveTo>
                  <a:lnTo>
                    <a:pt x="22961473" y="0"/>
                  </a:lnTo>
                  <a:lnTo>
                    <a:pt x="22961473" y="2954401"/>
                  </a:lnTo>
                  <a:lnTo>
                    <a:pt x="0" y="2954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421A34C-6814-0262-31B3-1BB0BE620D2A}"/>
              </a:ext>
            </a:extLst>
          </p:cNvPr>
          <p:cNvSpPr txBox="1"/>
          <p:nvPr/>
        </p:nvSpPr>
        <p:spPr>
          <a:xfrm>
            <a:off x="747251" y="5190777"/>
            <a:ext cx="2074607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BY:
Beulah </a:t>
            </a:r>
            <a:r>
              <a:rPr lang="en-US" sz="18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David.D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80591F-018E-DCE0-8944-ABABA82E0456}"/>
              </a:ext>
            </a:extLst>
          </p:cNvPr>
          <p:cNvSpPr txBox="1"/>
          <p:nvPr/>
        </p:nvSpPr>
        <p:spPr>
          <a:xfrm>
            <a:off x="8485239" y="5190777"/>
            <a:ext cx="2644877" cy="102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C.Nandeesh</a:t>
            </a: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(192525015)
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35270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F953-73D5-2FB7-6C22-37450347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3BD1-90E4-6D11-1B11-27E3E79CB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companies generate large volumes of sales, customer, and product data every day.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raw data manually is time-consuming and inefficient.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Warehouse stores data from multiple sources in a centralized repository.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(Extract, Transform, Load) is used to collect, clean, and integrate the data.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OLAP (Online Analytical Processing) enables fast multidimensional analysis of sales data.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KNIME Analytics Platform is used to build workflows, perform analysis, and create interactive reports without extensive coding.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identify sales trends, customer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product performance, and regional sales.</a:t>
            </a:r>
          </a:p>
        </p:txBody>
      </p:sp>
    </p:spTree>
    <p:extLst>
      <p:ext uri="{BB962C8B-B14F-4D97-AF65-F5344CB8AC3E}">
        <p14:creationId xmlns:p14="http://schemas.microsoft.com/office/powerpoint/2010/main" val="315545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4B67-1CAE-CAE2-E1B1-AC93F878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23BC8-A562-E7C9-14B9-4CADA9EF9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businesses collect large amounts of transactional data, but extracting meaningful insights quickly is challenging. Managers require an efficient system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performance, customer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product demand.</a:t>
            </a:r>
          </a:p>
          <a:p>
            <a:pPr marL="0" indent="0" algn="just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centralized Data Warehouse.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ETL (Extract, Transform, Load).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using OLAP.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dashboards with KNIME.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business decisions using analytics.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38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7448-6D6D-6F09-CD35-648E76A38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53"/>
            <a:ext cx="10515600" cy="481780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E4C6-7AC6-FB81-51B1-9264DC077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3564"/>
            <a:ext cx="10515600" cy="638431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Website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Sales | Customer | Product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ETL Process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(Extract → Transform → Load)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Data Warehouse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OLAP Analysis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KNIME Dashboard                         Reports &amp; Decisions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Arrow: Up-Down 3">
            <a:extLst>
              <a:ext uri="{FF2B5EF4-FFF2-40B4-BE49-F238E27FC236}">
                <a16:creationId xmlns:a16="http://schemas.microsoft.com/office/drawing/2014/main" id="{94517B81-7ADD-EDB4-F6A7-239C59AC8403}"/>
              </a:ext>
            </a:extLst>
          </p:cNvPr>
          <p:cNvSpPr/>
          <p:nvPr/>
        </p:nvSpPr>
        <p:spPr>
          <a:xfrm>
            <a:off x="1877961" y="1170039"/>
            <a:ext cx="363793" cy="6784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Up-Down 5">
            <a:extLst>
              <a:ext uri="{FF2B5EF4-FFF2-40B4-BE49-F238E27FC236}">
                <a16:creationId xmlns:a16="http://schemas.microsoft.com/office/drawing/2014/main" id="{343DF8DA-828A-0B73-688D-89CE95081037}"/>
              </a:ext>
            </a:extLst>
          </p:cNvPr>
          <p:cNvSpPr/>
          <p:nvPr/>
        </p:nvSpPr>
        <p:spPr>
          <a:xfrm>
            <a:off x="1932035" y="2040702"/>
            <a:ext cx="363793" cy="74576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Up-Down 7">
            <a:extLst>
              <a:ext uri="{FF2B5EF4-FFF2-40B4-BE49-F238E27FC236}">
                <a16:creationId xmlns:a16="http://schemas.microsoft.com/office/drawing/2014/main" id="{2B602425-F02E-50A6-890F-EA3A3BEAF7AB}"/>
              </a:ext>
            </a:extLst>
          </p:cNvPr>
          <p:cNvSpPr/>
          <p:nvPr/>
        </p:nvSpPr>
        <p:spPr>
          <a:xfrm>
            <a:off x="1946786" y="3298467"/>
            <a:ext cx="363793" cy="6784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Up-Down 9">
            <a:extLst>
              <a:ext uri="{FF2B5EF4-FFF2-40B4-BE49-F238E27FC236}">
                <a16:creationId xmlns:a16="http://schemas.microsoft.com/office/drawing/2014/main" id="{11DEFF6E-AD72-0EE2-C269-832124E79557}"/>
              </a:ext>
            </a:extLst>
          </p:cNvPr>
          <p:cNvSpPr/>
          <p:nvPr/>
        </p:nvSpPr>
        <p:spPr>
          <a:xfrm>
            <a:off x="1946785" y="4314441"/>
            <a:ext cx="363793" cy="6784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28EF4C45-8FD2-6609-0DB0-36FFDD2BA0F9}"/>
              </a:ext>
            </a:extLst>
          </p:cNvPr>
          <p:cNvSpPr/>
          <p:nvPr/>
        </p:nvSpPr>
        <p:spPr>
          <a:xfrm>
            <a:off x="1932036" y="5281909"/>
            <a:ext cx="363793" cy="6784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7D556E1-5012-7D3C-3DFF-6D8325A0FD2A}"/>
              </a:ext>
            </a:extLst>
          </p:cNvPr>
          <p:cNvSpPr/>
          <p:nvPr/>
        </p:nvSpPr>
        <p:spPr>
          <a:xfrm>
            <a:off x="3254477" y="589192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85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1A3F-CC24-D69A-06AF-93F87AB84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Process and Data Warehouse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A0ADCC-D8D7-67B9-877A-DAF2B12FE5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618686"/>
              </p:ext>
            </p:extLst>
          </p:nvPr>
        </p:nvGraphicFramePr>
        <p:xfrm>
          <a:off x="838200" y="1825625"/>
          <a:ext cx="10114935" cy="417205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371645">
                  <a:extLst>
                    <a:ext uri="{9D8B030D-6E8A-4147-A177-3AD203B41FA5}">
                      <a16:colId xmlns:a16="http://schemas.microsoft.com/office/drawing/2014/main" val="3308889177"/>
                    </a:ext>
                  </a:extLst>
                </a:gridCol>
                <a:gridCol w="3371645">
                  <a:extLst>
                    <a:ext uri="{9D8B030D-6E8A-4147-A177-3AD203B41FA5}">
                      <a16:colId xmlns:a16="http://schemas.microsoft.com/office/drawing/2014/main" val="3187325640"/>
                    </a:ext>
                  </a:extLst>
                </a:gridCol>
                <a:gridCol w="3371645">
                  <a:extLst>
                    <a:ext uri="{9D8B030D-6E8A-4147-A177-3AD203B41FA5}">
                      <a16:colId xmlns:a16="http://schemas.microsoft.com/office/drawing/2014/main" val="1173804130"/>
                    </a:ext>
                  </a:extLst>
                </a:gridCol>
              </a:tblGrid>
              <a:tr h="6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ETL Phase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446125"/>
                  </a:ext>
                </a:extLst>
              </a:tr>
              <a:tr h="1487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data from different sources such as sales, customers, and products.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 records, customer details, product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294869"/>
                  </a:ext>
                </a:extLst>
              </a:tr>
              <a:tr h="1040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and process the extracted data before storing it.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duplicate records, correct missing values, standardize formats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008164"/>
                  </a:ext>
                </a:extLst>
              </a:tr>
              <a:tr h="1040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the cleaned and transformed data into the Data Warehouse.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processed data into a centralized repository for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307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66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7526-462C-6546-1D26-94C4164A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Data Warehouse Benefits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8F323B-7AFB-485E-2167-D8B92E2BC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3165974"/>
              </p:ext>
            </p:extLst>
          </p:nvPr>
        </p:nvGraphicFramePr>
        <p:xfrm>
          <a:off x="838200" y="1825624"/>
          <a:ext cx="10515600" cy="4496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985753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37239196"/>
                    </a:ext>
                  </a:extLst>
                </a:gridCol>
              </a:tblGrid>
              <a:tr h="466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71340"/>
                  </a:ext>
                </a:extLst>
              </a:tr>
              <a:tr h="805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High-Quality Data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clean, accurate, and consistent data after ETL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089212"/>
                  </a:ext>
                </a:extLst>
              </a:tr>
              <a:tr h="805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Storage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data from multiple sources into a single repository.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931711"/>
                  </a:ext>
                </a:extLst>
              </a:tr>
              <a:tr h="805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Analysis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quick reporting, OLAP analysis, and Business Intelligence.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113303"/>
                  </a:ext>
                </a:extLst>
              </a:tr>
              <a:tr h="805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Decision Making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reliable historical data for informed business decisions.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735193"/>
                  </a:ext>
                </a:extLst>
              </a:tr>
              <a:tr h="805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Data Consistency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standardized data across all business departments.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86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238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46C0-AA9A-2507-F0B7-60B887E8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OLAP &amp; Data Cube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A37E5-9C5D-9F55-4B7B-AC5F1E327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852" y="1460500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What is OLAP?</a:t>
            </a:r>
          </a:p>
          <a:p>
            <a:r>
              <a:rPr lang="en-IN" sz="2000" dirty="0"/>
              <a:t>Online Analytical Processing (OLAP) helps users </a:t>
            </a:r>
            <a:r>
              <a:rPr lang="en-IN" sz="2000" dirty="0" err="1"/>
              <a:t>analyze</a:t>
            </a:r>
            <a:r>
              <a:rPr lang="en-IN" sz="2000" dirty="0"/>
              <a:t> business data from multiple dimensions.</a:t>
            </a:r>
          </a:p>
          <a:p>
            <a:pPr marL="0" indent="0">
              <a:buNone/>
            </a:pPr>
            <a:r>
              <a:rPr lang="en-IN" sz="2000" b="1" dirty="0"/>
              <a:t>OLAP Operations</a:t>
            </a:r>
          </a:p>
          <a:p>
            <a:r>
              <a:rPr lang="en-IN" sz="2000" dirty="0"/>
              <a:t>Roll-Up </a:t>
            </a:r>
          </a:p>
          <a:p>
            <a:r>
              <a:rPr lang="en-IN" sz="2000" dirty="0"/>
              <a:t>Drill-Down </a:t>
            </a:r>
          </a:p>
          <a:p>
            <a:r>
              <a:rPr lang="en-IN" sz="2000" dirty="0"/>
              <a:t>Slice </a:t>
            </a:r>
          </a:p>
          <a:p>
            <a:r>
              <a:rPr lang="en-IN" sz="2000" dirty="0"/>
              <a:t>Dice </a:t>
            </a:r>
          </a:p>
          <a:p>
            <a:r>
              <a:rPr lang="en-IN" sz="2000" dirty="0"/>
              <a:t>Pivot </a:t>
            </a:r>
          </a:p>
          <a:p>
            <a:pPr marL="0" indent="0">
              <a:buNone/>
            </a:pPr>
            <a:r>
              <a:rPr lang="en-IN" sz="2000" b="1" dirty="0"/>
              <a:t>Data Cube Dimensions</a:t>
            </a:r>
          </a:p>
          <a:p>
            <a:r>
              <a:rPr lang="en-IN" sz="2000" dirty="0"/>
              <a:t>Time </a:t>
            </a:r>
          </a:p>
          <a:p>
            <a:r>
              <a:rPr lang="en-IN" sz="2000" dirty="0"/>
              <a:t>Product </a:t>
            </a:r>
          </a:p>
          <a:p>
            <a:r>
              <a:rPr lang="en-IN" sz="2000" dirty="0"/>
              <a:t>Region </a:t>
            </a:r>
          </a:p>
          <a:p>
            <a:r>
              <a:rPr lang="en-IN" sz="2000" dirty="0"/>
              <a:t>Example:</a:t>
            </a:r>
            <a:br>
              <a:rPr lang="en-IN" sz="2000" dirty="0"/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of Electronics in the South Region during 2025.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1632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D63C-D9B8-7B5D-2651-B9E95292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Star Schema &amp; KNIME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E8033-78FE-BD78-D91A-4FFEA8028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84871" cy="40933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  Star Schema</a:t>
            </a:r>
          </a:p>
          <a:p>
            <a:pPr marL="0" indent="0">
              <a:buNone/>
            </a:pPr>
            <a:r>
              <a:rPr lang="en-IN" dirty="0"/>
              <a:t>Fact Table</a:t>
            </a:r>
          </a:p>
          <a:p>
            <a:r>
              <a:rPr lang="en-IN" dirty="0"/>
              <a:t>Sales Amount </a:t>
            </a:r>
          </a:p>
          <a:p>
            <a:r>
              <a:rPr lang="en-IN" dirty="0"/>
              <a:t>Quantity </a:t>
            </a:r>
          </a:p>
          <a:p>
            <a:r>
              <a:rPr lang="en-IN" dirty="0"/>
              <a:t>Profit </a:t>
            </a:r>
          </a:p>
          <a:p>
            <a:pPr marL="0" indent="0">
              <a:buNone/>
            </a:pPr>
            <a:r>
              <a:rPr lang="en-IN" dirty="0"/>
              <a:t>Dimension Tables</a:t>
            </a:r>
          </a:p>
          <a:p>
            <a:r>
              <a:rPr lang="en-IN" dirty="0"/>
              <a:t>Customer </a:t>
            </a:r>
          </a:p>
          <a:p>
            <a:r>
              <a:rPr lang="en-IN" dirty="0"/>
              <a:t>Product </a:t>
            </a:r>
          </a:p>
          <a:p>
            <a:r>
              <a:rPr lang="en-IN" dirty="0"/>
              <a:t>Time </a:t>
            </a:r>
          </a:p>
          <a:p>
            <a:r>
              <a:rPr lang="en-IN" dirty="0"/>
              <a:t>Region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6FE4A-7083-DF57-7759-B5B48EA64C2A}"/>
              </a:ext>
            </a:extLst>
          </p:cNvPr>
          <p:cNvSpPr txBox="1"/>
          <p:nvPr/>
        </p:nvSpPr>
        <p:spPr>
          <a:xfrm>
            <a:off x="4807974" y="1602197"/>
            <a:ext cx="71578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KNIME Workflow</a:t>
            </a:r>
          </a:p>
          <a:p>
            <a:r>
              <a:rPr lang="en-IN" dirty="0"/>
              <a:t>CSV Reader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Missing Value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Column Filter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Group By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Pivoting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Bar Chart</a:t>
            </a:r>
          </a:p>
          <a:p>
            <a:r>
              <a:rPr lang="en-IN" dirty="0"/>
              <a:t>      │</a:t>
            </a:r>
          </a:p>
          <a:p>
            <a:r>
              <a:rPr lang="en-IN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798951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3E58-1446-F0F5-FBF4-41EAD0B3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DDD26-FD4F-181B-20B5-7556760E1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Reports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generates:                                                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Report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Product-wise Sales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Region-wise Sales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Purchase Analysis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Performance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Analysis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E5A9E-7C42-D6A3-6A13-B74501035550}"/>
              </a:ext>
            </a:extLst>
          </p:cNvPr>
          <p:cNvSpPr txBox="1"/>
          <p:nvPr/>
        </p:nvSpPr>
        <p:spPr>
          <a:xfrm>
            <a:off x="5923934" y="1825625"/>
            <a:ext cx="44392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Insights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Best-selling product category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 region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00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9EC7-07F1-9F3D-0654-218EE38B7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50BD3-BED1-5AD7-4190-6A101BCA2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business decisions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inventory management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customer analysis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sales forecasting Interactive dashboards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1600868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0DA4-6701-E055-13FF-E58D188B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A2BA0-2A4A-1D37-0A06-F45A2A04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ETL, Data Warehousing, OLAP, and KNIME can transform raw e-commerce data into meaningful business insights. It helps managers monitor sales performance, understand customer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make informed decisions using interactive dashboards and reports.</a:t>
            </a:r>
          </a:p>
        </p:txBody>
      </p:sp>
    </p:spTree>
    <p:extLst>
      <p:ext uri="{BB962C8B-B14F-4D97-AF65-F5344CB8AC3E}">
        <p14:creationId xmlns:p14="http://schemas.microsoft.com/office/powerpoint/2010/main" val="181166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735F1B-C19D-3A36-509C-92129878D2E0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617608"/>
              </p:ext>
            </p:extLst>
          </p:nvPr>
        </p:nvGraphicFramePr>
        <p:xfrm>
          <a:off x="2844800" y="572724"/>
          <a:ext cx="6278880" cy="6122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64890" imgH="8734945" progId="Word.Document.12">
                  <p:embed/>
                </p:oleObj>
              </mc:Choice>
              <mc:Fallback>
                <p:oleObj name="Document" r:id="rId2" imgW="5764890" imgH="87349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44800" y="572724"/>
                        <a:ext cx="6278880" cy="61223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4328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025B61-E5CB-3B63-4F6E-F743BA76A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680" y="432844"/>
            <a:ext cx="6400799" cy="638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2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598</Words>
  <Application>Microsoft Office PowerPoint</Application>
  <PresentationFormat>Widescreen</PresentationFormat>
  <Paragraphs>128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Microsoft Word Document</vt:lpstr>
      <vt:lpstr>E-Commerce Sales Analytics Using OLAP and KNIME </vt:lpstr>
      <vt:lpstr>                           Introduction</vt:lpstr>
      <vt:lpstr>Problem Statement </vt:lpstr>
      <vt:lpstr>                        System Architecture</vt:lpstr>
      <vt:lpstr>            ETL Process and Data Warehouse</vt:lpstr>
      <vt:lpstr>                  Data Warehouse Benefits</vt:lpstr>
      <vt:lpstr>                  OLAP &amp; Data Cube</vt:lpstr>
      <vt:lpstr>         Star Schema &amp; KNIME Workflow</vt:lpstr>
      <vt:lpstr>                            Results</vt:lpstr>
      <vt:lpstr>                              Advantages</vt:lpstr>
      <vt:lpstr>                               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Golla BhavyaSri</dc:creator>
  <cp:lastModifiedBy>Golla BhavyaSri</cp:lastModifiedBy>
  <cp:revision>3</cp:revision>
  <dcterms:created xsi:type="dcterms:W3CDTF">2026-07-19T13:02:58Z</dcterms:created>
  <dcterms:modified xsi:type="dcterms:W3CDTF">2026-07-29T17:13:06Z</dcterms:modified>
</cp:coreProperties>
</file>